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9052560" y="5212080"/>
            <a:ext cx="2834640" cy="2834640"/>
          </a:xfrm>
          <a:prstGeom prst="ellipse">
            <a:avLst/>
          </a:prstGeom>
          <a:solidFill>
            <a:srgbClr val="10173D"/>
          </a:solidFill>
        </p:spPr>
      </p:sp>
      <p:sp>
        <p:nvSpPr>
          <p:cNvPr id="11" name="Text 9"/>
          <p:cNvSpPr/>
          <p:nvPr/>
        </p:nvSpPr>
        <p:spPr>
          <a:xfrm>
            <a:off x="10817352" y="36393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</a:rPr>
              <a:t>₹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" y="1417320"/>
            <a:ext cx="6949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B.TECH MAJOR PROJECT PRESENTATION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1828800"/>
            <a:ext cx="100584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1965960"/>
            <a:ext cx="722376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1017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Smart Billing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1017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40080" y="3703320"/>
            <a:ext cx="6949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Automated, Database-Driven Billing and Invoicing Platform for Retail Businesses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606040" y="5257800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6400800"/>
            <a:ext cx="6949440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519672"/>
            <a:ext cx="6949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  •  MySQL  •  HTML / CSS / JavaScript  •  JDBC</a:t>
            </a: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E681EA-A799-91C3-D584-FDCD9F83673F}"/>
              </a:ext>
            </a:extLst>
          </p:cNvPr>
          <p:cNvSpPr txBox="1"/>
          <p:nvPr/>
        </p:nvSpPr>
        <p:spPr>
          <a:xfrm>
            <a:off x="594360" y="4611469"/>
            <a:ext cx="42827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2510030161- T  VISHNU VARDHAN</a:t>
            </a:r>
          </a:p>
          <a:p>
            <a:r>
              <a:rPr lang="en-IN" dirty="0"/>
              <a:t>2510030024-P RISHIKESH REDDY</a:t>
            </a:r>
          </a:p>
          <a:p>
            <a:r>
              <a:rPr lang="en-IN" dirty="0"/>
              <a:t>2510030415-B ANISH REDDY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02  •  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17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Abstract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00584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777240" cy="77724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548640" y="160020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11064240" cy="3520440"/>
          </a:xfrm>
          <a:prstGeom prst="roundRect">
            <a:avLst>
              <a:gd name="adj" fmla="val 1558"/>
            </a:avLst>
          </a:prstGeom>
          <a:solidFill>
            <a:srgbClr val="EAF0FC"/>
          </a:solidFill>
          <a:ln w="12700">
            <a:solidFill>
              <a:srgbClr val="D7DE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743200"/>
            <a:ext cx="10241280" cy="3063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Traditional billing methods rely on manual entry, which is slow and highly prone to calculation and stock-record errors. Growing transaction volumes make digital, automated billing essential for accuracy, speed, and reliable record-keeping. The proposed Smart Billing System is a database-driven web application that streamlines the complete sales cycle for small and medium retail businesses. It offers separate Customer and Admin modules, backed by a centralized MySQL database that manages products, stock, and transaction records in real time. The system automatically generates itemized bills, updates inventory instantly, and produces sales reports for informed decision-making. The expected outcome is a faster, more accurate, and paperless billing process that reduces manual workload and strengthens data security for the business.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1503152" y="644652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03  •  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17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00584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548640" y="178308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728216"/>
            <a:ext cx="464515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17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Billing Systems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98448" y="2075688"/>
            <a:ext cx="464515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Replace paper-based invoicing with software that records every sale directly into a database.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66928" cy="56692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0" name="Text 8"/>
          <p:cNvSpPr/>
          <p:nvPr/>
        </p:nvSpPr>
        <p:spPr>
          <a:xfrm>
            <a:off x="6263640" y="178308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13448" y="1728216"/>
            <a:ext cx="464515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17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Problems with Manual Billing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13448" y="2075688"/>
            <a:ext cx="464515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entry is slow, error-prone, and makes stock and sales tracking difficult to maintain.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566928" cy="56692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4" name="Text 12"/>
          <p:cNvSpPr/>
          <p:nvPr/>
        </p:nvSpPr>
        <p:spPr>
          <a:xfrm>
            <a:off x="548640" y="33375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282696"/>
            <a:ext cx="464515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17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Importance of Automation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98448" y="3630168"/>
            <a:ext cx="464515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calculations and stock updates cut processing time and remove human error.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3337560"/>
            <a:ext cx="566928" cy="56692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8" name="Text 16"/>
          <p:cNvSpPr/>
          <p:nvPr/>
        </p:nvSpPr>
        <p:spPr>
          <a:xfrm>
            <a:off x="6263640" y="33375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13448" y="3282696"/>
            <a:ext cx="464515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17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Benefits to Businesses &amp; Customers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13448" y="3630168"/>
            <a:ext cx="464515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 checkout, accurate bills, and clear digital records improve customer trust.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937760"/>
            <a:ext cx="11109960" cy="960120"/>
          </a:xfrm>
          <a:prstGeom prst="roundRect">
            <a:avLst>
              <a:gd name="adj" fmla="val 5714"/>
            </a:avLst>
          </a:prstGeom>
          <a:solidFill>
            <a:srgbClr val="EAF0FC"/>
          </a:solidFill>
          <a:ln w="12700">
            <a:solidFill>
              <a:srgbClr val="D7DE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5138928"/>
            <a:ext cx="548640" cy="54864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3" name="Text 21"/>
          <p:cNvSpPr/>
          <p:nvPr/>
        </p:nvSpPr>
        <p:spPr>
          <a:xfrm>
            <a:off x="777240" y="513892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08760" y="5047488"/>
            <a:ext cx="39319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17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Database-Driven Approach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532120" y="5047488"/>
            <a:ext cx="5943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centralized database keeps product, customer, and transaction data consistent, accurate, and secure across every module of the system.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503152" y="644652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04  •  RELATED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17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Literature Review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00584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48640" y="1600200"/>
          <a:ext cx="11064240" cy="470916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848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S.No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Paper Title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Novelty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Technology Used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Limitation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48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IoT-Based Smart Billing System for a Multipurpose Machine (2024)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Links IoT sensing directly to automated bill computation.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IoT modules, embedded controller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Limited to a single-machine, hardware-specific use case.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48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Automated Retail Billing with QR Codes &amp; Object Tracking (2024)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Uses YOLOv8 and DeepSORT to auto-detect items on a conveyor.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PHP, MySQL, YOLOv8, DeepSORT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High computational cost for real-time video processing.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48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BillWise Pro: Web-Based Billing &amp; Inventory for SMEs (2024)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Combines billing with inventory and payment-reminder tracking.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Node.js, Express.js, MySQL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Reminder workflow adds complexity for very small shops.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48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AI-Based Automatic Billing System - “Auto Bill” (2024)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Applies computer vision and weight sensors for item recognition.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Machine learning, computer vision, web UI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Needs costly cameras/sensors and controlled lighting.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48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Design &amp; Development of a Retail Shop Billing System (2025)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Structures master product data with GST-based tax handling.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Java/Web stack, MySQL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Limited discussion of scalability for multi-branch stores.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503152" y="644652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05  •  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17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00584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11064240" cy="896112"/>
          </a:xfrm>
          <a:prstGeom prst="roundRect">
            <a:avLst>
              <a:gd name="adj" fmla="val 5102"/>
            </a:avLst>
          </a:prstGeom>
          <a:solidFill>
            <a:srgbClr val="EAF0FC"/>
          </a:solidFill>
          <a:ln w="12700">
            <a:solidFill>
              <a:srgbClr val="D7D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79676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7" name="Text 5"/>
          <p:cNvSpPr/>
          <p:nvPr/>
        </p:nvSpPr>
        <p:spPr>
          <a:xfrm>
            <a:off x="777240" y="197967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1874520"/>
            <a:ext cx="33832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17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Billing Errors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029200" y="1874520"/>
            <a:ext cx="64008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Hand-written or manually keyed bills frequently contain pricing and calculation mistakes.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11064240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985516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777240" y="298551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880360"/>
            <a:ext cx="33832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17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Slow Billing Process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029200" y="2880360"/>
            <a:ext cx="64008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Serving each customer takes longer, creating queues during peak business hours.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11064240" cy="896112"/>
          </a:xfrm>
          <a:prstGeom prst="roundRect">
            <a:avLst>
              <a:gd name="adj" fmla="val 5102"/>
            </a:avLst>
          </a:prstGeom>
          <a:solidFill>
            <a:srgbClr val="EAF0FC"/>
          </a:solidFill>
          <a:ln w="12700">
            <a:solidFill>
              <a:srgbClr val="D7D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991356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7" name="Text 15"/>
          <p:cNvSpPr/>
          <p:nvPr/>
        </p:nvSpPr>
        <p:spPr>
          <a:xfrm>
            <a:off x="777240" y="399135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3886200"/>
            <a:ext cx="33832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17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Inventory Management Issues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029200" y="3886200"/>
            <a:ext cx="64008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Stock levels are not updated in real time, causing overselling or shortages.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11064240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997196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2" name="Text 20"/>
          <p:cNvSpPr/>
          <p:nvPr/>
        </p:nvSpPr>
        <p:spPr>
          <a:xfrm>
            <a:off x="777240" y="499719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4892040"/>
            <a:ext cx="33832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17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Need for Automated Billing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029200" y="4892040"/>
            <a:ext cx="64008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Businesses require software that calculates totals and taxes without manual effort.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806440"/>
            <a:ext cx="11064240" cy="896112"/>
          </a:xfrm>
          <a:prstGeom prst="roundRect">
            <a:avLst>
              <a:gd name="adj" fmla="val 5102"/>
            </a:avLst>
          </a:prstGeom>
          <a:solidFill>
            <a:srgbClr val="EAF0FC"/>
          </a:solidFill>
          <a:ln w="12700">
            <a:solidFill>
              <a:srgbClr val="D7DE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6003036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7" name="Text 25"/>
          <p:cNvSpPr/>
          <p:nvPr/>
        </p:nvSpPr>
        <p:spPr>
          <a:xfrm>
            <a:off x="777240" y="600303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08760" y="5897880"/>
            <a:ext cx="33832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17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&amp; Accurate Transactions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5029200" y="5897880"/>
            <a:ext cx="64008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 and payment data must be stored reliably and protected from tampering.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503152" y="644652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06  •  SYSTEM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17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Modules &amp; Database Description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00584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72768"/>
            <a:ext cx="2139696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658368" y="166420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NAME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58368" y="192024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Billing System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779776" y="1572768"/>
            <a:ext cx="2139696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2889504" y="166420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PLATFORM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889504" y="192024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Web-Based Application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10912" y="1572768"/>
            <a:ext cx="2139696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5120640" y="166420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120640" y="192024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242048" y="1572768"/>
            <a:ext cx="2139696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7351776" y="166420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 MODULES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51776" y="192024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473184" y="1572768"/>
            <a:ext cx="2139696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</p:spPr>
      </p:sp>
      <p:sp>
        <p:nvSpPr>
          <p:cNvPr id="18" name="Text 16"/>
          <p:cNvSpPr/>
          <p:nvPr/>
        </p:nvSpPr>
        <p:spPr>
          <a:xfrm>
            <a:off x="9582912" y="166420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TYPES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582912" y="192024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&amp; Customer</a:t>
            </a:r>
            <a:endParaRPr lang="en-US" sz="13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548640" y="2606040"/>
          <a:ext cx="5440680" cy="3611880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9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Module / Feature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User Login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Secure authentication for Admin and Customer roles.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Product Management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Add, update, and remove product records and prices.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Customer Management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Stores customer details linked to their purchase history.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Billing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Calculates item totals, taxes, and the final bill amount.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Invoice Generation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Produces a printable or digital invoice for each sale.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/>
        </p:nvGraphicFramePr>
        <p:xfrm>
          <a:off x="6172200" y="2606040"/>
          <a:ext cx="5440680" cy="3611880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9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Module / Feature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Inventory Management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Tracks stock levels and updates them after every sale.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Payment Processing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Records payment mode and confirms transaction status.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Sales Report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Summarizes daily, monthly, and product-wise sales data.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Admin Dashboard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Central view of sales, stock, and system activity.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Database Backup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Periodically saves data to prevent loss or corruption.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11503152" y="644652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07  •  PROCESS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17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00584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2514600" cy="1417320"/>
          </a:xfrm>
          <a:prstGeom prst="roundRect">
            <a:avLst>
              <a:gd name="adj" fmla="val 4516"/>
            </a:avLst>
          </a:prstGeom>
          <a:solidFill>
            <a:srgbClr val="EAF0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7" name="Text 5"/>
          <p:cNvSpPr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487168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7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Login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788920"/>
            <a:ext cx="2240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or customer signs in securely.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81528" y="2455164"/>
            <a:ext cx="164592" cy="164592"/>
          </a:xfrm>
          <a:prstGeom prst="rightArrow">
            <a:avLst/>
          </a:prstGeom>
          <a:solidFill>
            <a:srgbClr val="1E2761"/>
          </a:solidFill>
        </p:spPr>
      </p:sp>
      <p:sp>
        <p:nvSpPr>
          <p:cNvPr id="11" name="Shape 9"/>
          <p:cNvSpPr/>
          <p:nvPr/>
        </p:nvSpPr>
        <p:spPr>
          <a:xfrm>
            <a:off x="3264408" y="1828800"/>
            <a:ext cx="2514600" cy="1417320"/>
          </a:xfrm>
          <a:prstGeom prst="roundRect">
            <a:avLst>
              <a:gd name="adj" fmla="val 4516"/>
            </a:avLst>
          </a:prstGeom>
          <a:solidFill>
            <a:srgbClr val="EAF0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01568" y="1965960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3" name="Text 11"/>
          <p:cNvSpPr/>
          <p:nvPr/>
        </p:nvSpPr>
        <p:spPr>
          <a:xfrm>
            <a:off x="3401568" y="19659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01568" y="2487168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7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Selection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01568" y="2788920"/>
            <a:ext cx="2240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Items are chosen and added to the bill.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97296" y="2455164"/>
            <a:ext cx="164592" cy="164592"/>
          </a:xfrm>
          <a:prstGeom prst="rightArrow">
            <a:avLst/>
          </a:prstGeom>
          <a:solidFill>
            <a:srgbClr val="1E2761"/>
          </a:solidFill>
        </p:spPr>
      </p:sp>
      <p:sp>
        <p:nvSpPr>
          <p:cNvPr id="17" name="Shape 15"/>
          <p:cNvSpPr/>
          <p:nvPr/>
        </p:nvSpPr>
        <p:spPr>
          <a:xfrm>
            <a:off x="5980176" y="1828800"/>
            <a:ext cx="2514600" cy="1417320"/>
          </a:xfrm>
          <a:prstGeom prst="roundRect">
            <a:avLst>
              <a:gd name="adj" fmla="val 4516"/>
            </a:avLst>
          </a:prstGeom>
          <a:solidFill>
            <a:srgbClr val="EAF0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17336" y="1965960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9" name="Text 17"/>
          <p:cNvSpPr/>
          <p:nvPr/>
        </p:nvSpPr>
        <p:spPr>
          <a:xfrm>
            <a:off x="6117336" y="19659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17336" y="2487168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7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Details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17336" y="2788920"/>
            <a:ext cx="2240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Buyer information is captured, if needed.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13064" y="2455164"/>
            <a:ext cx="164592" cy="164592"/>
          </a:xfrm>
          <a:prstGeom prst="rightArrow">
            <a:avLst/>
          </a:prstGeom>
          <a:solidFill>
            <a:srgbClr val="1E2761"/>
          </a:solidFill>
        </p:spPr>
      </p:sp>
      <p:sp>
        <p:nvSpPr>
          <p:cNvPr id="23" name="Shape 21"/>
          <p:cNvSpPr/>
          <p:nvPr/>
        </p:nvSpPr>
        <p:spPr>
          <a:xfrm>
            <a:off x="8695944" y="1828800"/>
            <a:ext cx="2514600" cy="1417320"/>
          </a:xfrm>
          <a:prstGeom prst="roundRect">
            <a:avLst>
              <a:gd name="adj" fmla="val 4516"/>
            </a:avLst>
          </a:prstGeom>
          <a:solidFill>
            <a:srgbClr val="EAF0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33104" y="1965960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5" name="Text 23"/>
          <p:cNvSpPr/>
          <p:nvPr/>
        </p:nvSpPr>
        <p:spPr>
          <a:xfrm>
            <a:off x="8833104" y="19659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833104" y="2487168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7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Bill Generation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833104" y="2788920"/>
            <a:ext cx="2240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computes item totals and tax.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870948" y="3300984"/>
            <a:ext cx="164592" cy="393192"/>
          </a:xfrm>
          <a:prstGeom prst="downArrow">
            <a:avLst/>
          </a:prstGeom>
          <a:solidFill>
            <a:srgbClr val="1E2761"/>
          </a:solidFill>
        </p:spPr>
      </p:sp>
      <p:sp>
        <p:nvSpPr>
          <p:cNvPr id="29" name="Shape 27"/>
          <p:cNvSpPr/>
          <p:nvPr/>
        </p:nvSpPr>
        <p:spPr>
          <a:xfrm>
            <a:off x="8695944" y="3749040"/>
            <a:ext cx="2514600" cy="1417320"/>
          </a:xfrm>
          <a:prstGeom prst="roundRect">
            <a:avLst>
              <a:gd name="adj" fmla="val 4516"/>
            </a:avLst>
          </a:prstGeom>
          <a:solidFill>
            <a:srgbClr val="EAF0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33104" y="3886200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1" name="Text 29"/>
          <p:cNvSpPr/>
          <p:nvPr/>
        </p:nvSpPr>
        <p:spPr>
          <a:xfrm>
            <a:off x="8833104" y="3886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833104" y="4407408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7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 Processing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833104" y="4709160"/>
            <a:ext cx="2240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 mode is recorded and confirmed.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80176" y="3749040"/>
            <a:ext cx="2514600" cy="1417320"/>
          </a:xfrm>
          <a:prstGeom prst="roundRect">
            <a:avLst>
              <a:gd name="adj" fmla="val 4516"/>
            </a:avLst>
          </a:prstGeom>
          <a:solidFill>
            <a:srgbClr val="EAF0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17336" y="3886200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6" name="Text 34"/>
          <p:cNvSpPr/>
          <p:nvPr/>
        </p:nvSpPr>
        <p:spPr>
          <a:xfrm>
            <a:off x="6117336" y="3886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117336" y="4407408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7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Update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117336" y="4709160"/>
            <a:ext cx="2240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Stock and sales tables are updated.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64408" y="3749040"/>
            <a:ext cx="2514600" cy="1417320"/>
          </a:xfrm>
          <a:prstGeom prst="roundRect">
            <a:avLst>
              <a:gd name="adj" fmla="val 4516"/>
            </a:avLst>
          </a:prstGeom>
          <a:solidFill>
            <a:srgbClr val="EAF0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01568" y="3886200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1" name="Text 39"/>
          <p:cNvSpPr/>
          <p:nvPr/>
        </p:nvSpPr>
        <p:spPr>
          <a:xfrm>
            <a:off x="3401568" y="3886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401568" y="4407408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7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Invoice Generation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401568" y="4709160"/>
            <a:ext cx="2240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digital/printable invoice is created.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" y="3749040"/>
            <a:ext cx="2514600" cy="1417320"/>
          </a:xfrm>
          <a:prstGeom prst="roundRect">
            <a:avLst>
              <a:gd name="adj" fmla="val 4516"/>
            </a:avLst>
          </a:prstGeom>
          <a:solidFill>
            <a:srgbClr val="EAF0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5800" y="3886200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6" name="Text 44"/>
          <p:cNvSpPr/>
          <p:nvPr/>
        </p:nvSpPr>
        <p:spPr>
          <a:xfrm>
            <a:off x="685800" y="3886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85800" y="4407408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7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 Report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85800" y="4709160"/>
            <a:ext cx="2240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Reports are generated for analysis.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513064" y="4375404"/>
            <a:ext cx="164592" cy="164592"/>
          </a:xfrm>
          <a:prstGeom prst="leftArrow">
            <a:avLst/>
          </a:prstGeom>
          <a:solidFill>
            <a:srgbClr val="1E2761"/>
          </a:solidFill>
        </p:spPr>
      </p:sp>
      <p:sp>
        <p:nvSpPr>
          <p:cNvPr id="50" name="Shape 48"/>
          <p:cNvSpPr/>
          <p:nvPr/>
        </p:nvSpPr>
        <p:spPr>
          <a:xfrm>
            <a:off x="5797296" y="4375404"/>
            <a:ext cx="164592" cy="164592"/>
          </a:xfrm>
          <a:prstGeom prst="leftArrow">
            <a:avLst/>
          </a:prstGeom>
          <a:solidFill>
            <a:srgbClr val="1E2761"/>
          </a:solidFill>
        </p:spPr>
      </p:sp>
      <p:sp>
        <p:nvSpPr>
          <p:cNvPr id="51" name="Shape 49"/>
          <p:cNvSpPr/>
          <p:nvPr/>
        </p:nvSpPr>
        <p:spPr>
          <a:xfrm>
            <a:off x="3081528" y="4375404"/>
            <a:ext cx="164592" cy="164592"/>
          </a:xfrm>
          <a:prstGeom prst="leftArrow">
            <a:avLst/>
          </a:prstGeom>
          <a:solidFill>
            <a:srgbClr val="1E2761"/>
          </a:solidFill>
        </p:spPr>
      </p:sp>
      <p:sp>
        <p:nvSpPr>
          <p:cNvPr id="52" name="Text 50"/>
          <p:cNvSpPr/>
          <p:nvPr/>
        </p:nvSpPr>
        <p:spPr>
          <a:xfrm>
            <a:off x="11503152" y="644652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08  •  MODULE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17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Modules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00584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539496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539496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</p:spPr>
      </p:sp>
      <p:sp>
        <p:nvSpPr>
          <p:cNvPr id="7" name="Shape 5"/>
          <p:cNvSpPr/>
          <p:nvPr/>
        </p:nvSpPr>
        <p:spPr>
          <a:xfrm>
            <a:off x="548640" y="1947672"/>
            <a:ext cx="5394960" cy="246888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8" name="Text 6"/>
          <p:cNvSpPr/>
          <p:nvPr/>
        </p:nvSpPr>
        <p:spPr>
          <a:xfrm>
            <a:off x="731520" y="169164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Module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" y="2350008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17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Definition: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011680" y="2350008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Interface for the business owner/staff to manage the system.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297180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17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Functions: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011680" y="2971800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 products, stock, users, and view sales reports.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" y="3593592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17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Features: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011680" y="3593592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Dashboard, inventory control, report generation.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4215384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17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Advantages: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011680" y="4215384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control and real-time visibility over operations.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1691640"/>
            <a:ext cx="539496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1691640"/>
            <a:ext cx="5394960" cy="502920"/>
          </a:xfrm>
          <a:prstGeom prst="roundRect">
            <a:avLst>
              <a:gd name="adj" fmla="val 10909"/>
            </a:avLst>
          </a:prstGeom>
          <a:solidFill>
            <a:srgbClr val="10173D"/>
          </a:solidFill>
        </p:spPr>
      </p:sp>
      <p:sp>
        <p:nvSpPr>
          <p:cNvPr id="19" name="Shape 17"/>
          <p:cNvSpPr/>
          <p:nvPr/>
        </p:nvSpPr>
        <p:spPr>
          <a:xfrm>
            <a:off x="6263640" y="1947672"/>
            <a:ext cx="5394960" cy="246888"/>
          </a:xfrm>
          <a:prstGeom prst="rect">
            <a:avLst/>
          </a:prstGeom>
          <a:solidFill>
            <a:srgbClr val="10173D"/>
          </a:solidFill>
        </p:spPr>
      </p:sp>
      <p:sp>
        <p:nvSpPr>
          <p:cNvPr id="20" name="Text 18"/>
          <p:cNvSpPr/>
          <p:nvPr/>
        </p:nvSpPr>
        <p:spPr>
          <a:xfrm>
            <a:off x="6446520" y="169164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/ Billing Module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64808" y="2350008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17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Definition: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726680" y="2350008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Interface used to select items and generate a bill.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64808" y="297180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17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Functions: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726680" y="2971800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selection, bill calculation, invoice printing.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64808" y="3593592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17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Features: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726680" y="3593592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 checkout, itemized invoice, multiple payment modes.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64808" y="4215384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17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Advantages: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726680" y="4215384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Quick, accurate, and paperless billing experience.</a:t>
            </a:r>
            <a:endParaRPr lang="en-US" sz="11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/>
        </p:nvGraphicFramePr>
        <p:xfrm>
          <a:off x="548640" y="5166360"/>
          <a:ext cx="11109960" cy="141732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Admin Module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Billing Module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Purpose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System &amp; data management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Sales transaction handling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Users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Business owner / staff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Customers / cashier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Functions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Configure products &amp; view reports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Select items &amp; generate bills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Benefits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Operational control &amp; insight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Speed and billing accuracy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11503152" y="644652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1005</Words>
  <Application>Microsoft Office PowerPoint</Application>
  <PresentationFormat>Widescreen</PresentationFormat>
  <Paragraphs>203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vishnu vardhan</cp:lastModifiedBy>
  <cp:revision>3</cp:revision>
  <dcterms:created xsi:type="dcterms:W3CDTF">2026-08-06T03:01:00Z</dcterms:created>
  <dcterms:modified xsi:type="dcterms:W3CDTF">2026-10-15T07:04:44Z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DA4B19B4EB664405919309856961B4C4_12</vt:lpwstr>
  </property>
  <property fmtid="{D5CDD505-2E9C-101B-9397-08002B2CF9AE}" pid="3" name="KSOProductBuildVer">
    <vt:lpwstr>1033-12.1.0.28032</vt:lpwstr>
  </property>
</Properties>
</file>